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4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3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1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6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5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2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8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0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5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5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77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e main avec des cordes rouges">
            <a:extLst>
              <a:ext uri="{FF2B5EF4-FFF2-40B4-BE49-F238E27FC236}">
                <a16:creationId xmlns:a16="http://schemas.microsoft.com/office/drawing/2014/main" id="{E4786D3C-578B-A97D-A595-AC38DA9A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50" b="9681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9FDAEE-85B3-62CC-0C33-A1291BB7C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fr-CA">
                <a:solidFill>
                  <a:srgbClr val="FFFFFF"/>
                </a:solidFill>
              </a:rPr>
              <a:t>Classification Linéaire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C85E14-DB10-2C50-AC11-74C96808E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fr-CA">
                <a:solidFill>
                  <a:srgbClr val="FFFFFF"/>
                </a:solidFill>
              </a:rPr>
              <a:t>Cours 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081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2661-3C95-9324-6333-957C9028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Classification Linéaire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879005-18A3-6753-7CA8-C2EBC4C2B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 dirty="0"/>
              <a:t>Méthode statistique </a:t>
            </a:r>
            <a:r>
              <a:rPr lang="fr-CA" dirty="0"/>
              <a:t>qui permet de modéliser la relation linéaire entre</a:t>
            </a:r>
          </a:p>
          <a:p>
            <a:pPr lvl="1"/>
            <a:r>
              <a:rPr lang="fr-CA" sz="2000" dirty="0"/>
              <a:t>Une variable qualitative (catégorielle) dépendante </a:t>
            </a:r>
            <a:r>
              <a:rPr lang="fr-CA" sz="2000" b="1" dirty="0"/>
              <a:t>Y </a:t>
            </a:r>
            <a:r>
              <a:rPr lang="fr-CA" sz="2000" b="1" dirty="0">
                <a:sym typeface="Wingdings" panose="05000000000000000000" pitchFamily="2" charset="2"/>
              </a:rPr>
              <a:t> Y </a:t>
            </a:r>
            <a:r>
              <a:rPr lang="fr-CA" sz="2000" dirty="0"/>
              <a:t>∈ {0,1} (si deux catégories)</a:t>
            </a:r>
          </a:p>
          <a:p>
            <a:pPr lvl="2"/>
            <a:r>
              <a:rPr lang="fr-CA" sz="1800" dirty="0"/>
              <a:t>Exemple</a:t>
            </a:r>
            <a:r>
              <a:rPr lang="fr-CA" sz="1800" b="1" dirty="0"/>
              <a:t> : </a:t>
            </a:r>
            <a:r>
              <a:rPr lang="fr-CA" sz="1800" dirty="0"/>
              <a:t>Couleur des yeux ∈ (marron, bleu, vert), email ∈ (spam, email normal)</a:t>
            </a:r>
            <a:endParaRPr lang="fr-CA" sz="1800" b="1" dirty="0"/>
          </a:p>
          <a:p>
            <a:pPr lvl="1"/>
            <a:r>
              <a:rPr lang="fr-CA" sz="2000" dirty="0"/>
              <a:t>Une ou plusieurs variables indépendantes/explicatives </a:t>
            </a:r>
            <a:r>
              <a:rPr lang="fr-CA" sz="2000" b="1" dirty="0"/>
              <a:t>X </a:t>
            </a:r>
            <a:r>
              <a:rPr lang="fr-CA" sz="2000" b="1" dirty="0">
                <a:sym typeface="Wingdings" panose="05000000000000000000" pitchFamily="2" charset="2"/>
              </a:rPr>
              <a:t> (X1,X2,X3 … )</a:t>
            </a:r>
          </a:p>
          <a:p>
            <a:pPr lvl="1"/>
            <a:endParaRPr lang="fr-CA" sz="2000" b="1" dirty="0">
              <a:sym typeface="Wingdings" panose="05000000000000000000" pitchFamily="2" charset="2"/>
            </a:endParaRPr>
          </a:p>
          <a:p>
            <a:r>
              <a:rPr lang="fr-CA" sz="2200" dirty="0">
                <a:sym typeface="Wingdings" panose="05000000000000000000" pitchFamily="2" charset="2"/>
              </a:rPr>
              <a:t>Ici, nous allons essayer d’estimer la </a:t>
            </a:r>
            <a:r>
              <a:rPr lang="fr-CA" sz="2200" b="1" dirty="0">
                <a:sym typeface="Wingdings" panose="05000000000000000000" pitchFamily="2" charset="2"/>
              </a:rPr>
              <a:t>probabilité qu’une observation </a:t>
            </a:r>
            <a:r>
              <a:rPr lang="fr-CA" sz="2200" dirty="0">
                <a:sym typeface="Wingdings" panose="05000000000000000000" pitchFamily="2" charset="2"/>
              </a:rPr>
              <a:t>appartienne à un groupe. </a:t>
            </a:r>
          </a:p>
          <a:p>
            <a:pPr lvl="1"/>
            <a:r>
              <a:rPr lang="fr-CA" sz="2000" b="1" dirty="0"/>
              <a:t>À partir de la probabilité estimée, nous allons pouvoir classifier l’observation </a:t>
            </a:r>
          </a:p>
          <a:p>
            <a:pPr lvl="2"/>
            <a:r>
              <a:rPr lang="fr-CA" sz="1800" b="1" dirty="0"/>
              <a:t>P(Y=1) &gt; 50% </a:t>
            </a:r>
            <a:r>
              <a:rPr lang="fr-CA" sz="1800" b="1" dirty="0">
                <a:sym typeface="Wingdings" panose="05000000000000000000" pitchFamily="2" charset="2"/>
              </a:rPr>
              <a:t> Y = 1</a:t>
            </a:r>
            <a:endParaRPr lang="fr-CA" sz="1800" b="1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0017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67303-0DC6-D439-0BB0-3BF8C4F3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Peut-on utiliser la régression linéaire?</a:t>
            </a:r>
            <a:br>
              <a:rPr lang="fr-CA" dirty="0"/>
            </a:b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5FAE46-7302-2C73-A0DA-47C15B963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35" y="1681992"/>
            <a:ext cx="10691265" cy="6274008"/>
          </a:xfrm>
        </p:spPr>
        <p:txBody>
          <a:bodyPr>
            <a:normAutofit/>
          </a:bodyPr>
          <a:lstStyle/>
          <a:p>
            <a:r>
              <a:rPr lang="fr-CA" dirty="0"/>
              <a:t>Supposons que la tache de classification est</a:t>
            </a:r>
          </a:p>
          <a:p>
            <a:pPr lvl="1"/>
            <a:r>
              <a:rPr lang="fr-CA" dirty="0"/>
              <a:t>Y = 0 si Non </a:t>
            </a:r>
          </a:p>
          <a:p>
            <a:pPr lvl="1"/>
            <a:r>
              <a:rPr lang="fr-CA" dirty="0"/>
              <a:t>Y= 1 si Oui</a:t>
            </a:r>
          </a:p>
          <a:p>
            <a:pPr lvl="1"/>
            <a:r>
              <a:rPr lang="fr-CA" dirty="0"/>
              <a:t>Peut-on simplement effectuer une régression linéaire de Y sur X et classer comme Oui Y&gt;50%</a:t>
            </a:r>
          </a:p>
          <a:p>
            <a:pPr lvl="1"/>
            <a:r>
              <a:rPr lang="fr-CA" dirty="0"/>
              <a:t>Régression linéaire peut produire des probabilités inférieures à zéro ou supérieures à un. La régression logistique est plus appropriée.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br>
              <a:rPr lang="fr-CA" dirty="0"/>
            </a:br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D66D81F-3A46-0AD0-B8CC-8297C35C8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44" y="4044172"/>
            <a:ext cx="7702358" cy="2575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ECFA4C-806B-D4F8-7C3A-32F8CA4E8220}"/>
              </a:ext>
            </a:extLst>
          </p:cNvPr>
          <p:cNvSpPr/>
          <p:nvPr/>
        </p:nvSpPr>
        <p:spPr>
          <a:xfrm>
            <a:off x="9563936" y="5067129"/>
            <a:ext cx="2316638" cy="530087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Marques orange indique la réponse Y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B3FCB92-B428-F341-2AA3-67267A6BC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35" y="3886891"/>
            <a:ext cx="1416294" cy="25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5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7680A-D773-D27B-F180-3C51F7A7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Regression</a:t>
            </a:r>
            <a:r>
              <a:rPr lang="fr-CA" dirty="0"/>
              <a:t> Logistique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C7A0B2-D519-B931-D00E-B2A978260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fr-CA" dirty="0"/>
          </a:p>
          <a:p>
            <a:endParaRPr lang="fr-CA" dirty="0"/>
          </a:p>
          <a:p>
            <a:r>
              <a:rPr lang="fr-CA" dirty="0"/>
              <a:t>Cette formule limite P(Y=1|X) à avoir des valeurs entre 0 et 1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On appelle cette transformation, </a:t>
            </a:r>
            <a:r>
              <a:rPr lang="fr-CA" dirty="0" err="1"/>
              <a:t>logit</a:t>
            </a:r>
            <a:endParaRPr lang="fr-CA" dirty="0"/>
          </a:p>
          <a:p>
            <a:r>
              <a:rPr lang="fr-CA" dirty="0"/>
              <a:t>Maximum de vraisemblance afin de trouver les paramètres beta optimaux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3F9DA-37F8-C121-9983-5E3DA59013BE}"/>
              </a:ext>
            </a:extLst>
          </p:cNvPr>
          <p:cNvSpPr/>
          <p:nvPr/>
        </p:nvSpPr>
        <p:spPr>
          <a:xfrm>
            <a:off x="3637722" y="1954696"/>
            <a:ext cx="3538330" cy="105354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dirty="0"/>
              <a:t>P(Y=1 | X) = e</a:t>
            </a:r>
            <a:r>
              <a:rPr lang="fr-CA" baseline="30000" dirty="0"/>
              <a:t>B0+B1X</a:t>
            </a:r>
            <a:r>
              <a:rPr lang="fr-CA" dirty="0"/>
              <a:t>/(1+ e</a:t>
            </a:r>
            <a:r>
              <a:rPr lang="fr-CA" baseline="30000" dirty="0"/>
              <a:t>B0+B1X</a:t>
            </a:r>
            <a:r>
              <a:rPr lang="fr-CA" dirty="0"/>
              <a:t>)</a:t>
            </a:r>
            <a:endParaRPr lang="fr-CA" baseline="30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EA1683-FEA1-3F7F-6F17-BC79184B6499}"/>
              </a:ext>
            </a:extLst>
          </p:cNvPr>
          <p:cNvSpPr/>
          <p:nvPr/>
        </p:nvSpPr>
        <p:spPr>
          <a:xfrm>
            <a:off x="3846443" y="3565165"/>
            <a:ext cx="3120887" cy="134429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dirty="0"/>
              <a:t>Posons : P(Y=1|X) = p</a:t>
            </a:r>
          </a:p>
          <a:p>
            <a:endParaRPr lang="fr-CA" dirty="0"/>
          </a:p>
          <a:p>
            <a:r>
              <a:rPr lang="fr-CA" dirty="0"/>
              <a:t>log(p/(1-p)) =  B0+B1X ou </a:t>
            </a:r>
          </a:p>
          <a:p>
            <a:r>
              <a:rPr lang="fr-CA" dirty="0"/>
              <a:t>Cote = p/(1-p) = e </a:t>
            </a:r>
            <a:r>
              <a:rPr lang="fr-CA" baseline="30000" dirty="0"/>
              <a:t>B0+B1X </a:t>
            </a:r>
          </a:p>
        </p:txBody>
      </p:sp>
    </p:spTree>
    <p:extLst>
      <p:ext uri="{BB962C8B-B14F-4D97-AF65-F5344CB8AC3E}">
        <p14:creationId xmlns:p14="http://schemas.microsoft.com/office/powerpoint/2010/main" val="134729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8D6324-CDA6-C295-BFAE-B72C4EB2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Interpretation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32D3D9-02EA-5F5A-DB94-34C30D0E3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B0 </a:t>
            </a:r>
          </a:p>
          <a:p>
            <a:pPr lvl="1"/>
            <a:r>
              <a:rPr lang="fr-CA" dirty="0"/>
              <a:t>Cote = e</a:t>
            </a:r>
            <a:r>
              <a:rPr lang="fr-CA" sz="1600" baseline="30000" dirty="0"/>
              <a:t>B0</a:t>
            </a:r>
            <a:r>
              <a:rPr lang="fr-CA" dirty="0"/>
              <a:t>  lorsque X = 0</a:t>
            </a:r>
          </a:p>
          <a:p>
            <a:pPr lvl="1"/>
            <a:endParaRPr lang="fr-CA" dirty="0"/>
          </a:p>
          <a:p>
            <a:r>
              <a:rPr lang="fr-CA" dirty="0"/>
              <a:t>B1</a:t>
            </a:r>
          </a:p>
          <a:p>
            <a:pPr lvl="1"/>
            <a:r>
              <a:rPr lang="fr-CA" dirty="0"/>
              <a:t>Cote1 = e</a:t>
            </a:r>
            <a:r>
              <a:rPr lang="fr-CA" baseline="30000" dirty="0"/>
              <a:t>B0+B1X </a:t>
            </a:r>
          </a:p>
          <a:p>
            <a:pPr lvl="1"/>
            <a:r>
              <a:rPr lang="fr-CA" dirty="0"/>
              <a:t>Cote2 = e</a:t>
            </a:r>
            <a:r>
              <a:rPr lang="fr-CA" baseline="30000" dirty="0"/>
              <a:t>B0+B1(X+1)</a:t>
            </a:r>
          </a:p>
          <a:p>
            <a:pPr lvl="1"/>
            <a:r>
              <a:rPr lang="fr-CA" dirty="0"/>
              <a:t>Cote2/Cote1 = e</a:t>
            </a:r>
            <a:r>
              <a:rPr lang="fr-CA" baseline="30000" dirty="0"/>
              <a:t>B0+B1X </a:t>
            </a:r>
            <a:r>
              <a:rPr lang="fr-CA" dirty="0"/>
              <a:t>/e</a:t>
            </a:r>
            <a:r>
              <a:rPr lang="fr-CA" baseline="30000" dirty="0"/>
              <a:t>B0+B1(X+1)</a:t>
            </a:r>
          </a:p>
          <a:p>
            <a:pPr lvl="1"/>
            <a:r>
              <a:rPr lang="fr-CA" dirty="0"/>
              <a:t>Cote2/Cote1 = e</a:t>
            </a:r>
            <a:r>
              <a:rPr lang="fr-CA" baseline="30000" dirty="0"/>
              <a:t>B1</a:t>
            </a:r>
          </a:p>
          <a:p>
            <a:pPr marL="457200" lvl="1" indent="0">
              <a:buNone/>
            </a:pPr>
            <a:r>
              <a:rPr lang="fr-CA" dirty="0"/>
              <a:t> La cote de P(Y=1) est multipliée par e</a:t>
            </a:r>
            <a:r>
              <a:rPr lang="fr-CA" baseline="30000" dirty="0"/>
              <a:t>B1</a:t>
            </a:r>
            <a:r>
              <a:rPr lang="fr-CA" dirty="0"/>
              <a:t> lorsque X augmente d’une unité</a:t>
            </a:r>
            <a:endParaRPr lang="fr-CA" baseline="30000" dirty="0"/>
          </a:p>
        </p:txBody>
      </p:sp>
    </p:spTree>
    <p:extLst>
      <p:ext uri="{BB962C8B-B14F-4D97-AF65-F5344CB8AC3E}">
        <p14:creationId xmlns:p14="http://schemas.microsoft.com/office/powerpoint/2010/main" val="115131770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338</Words>
  <Application>Microsoft Office PowerPoint</Application>
  <PresentationFormat>Grand écran</PresentationFormat>
  <Paragraphs>49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Calisto MT</vt:lpstr>
      <vt:lpstr>Univers Condensed</vt:lpstr>
      <vt:lpstr>Wingdings</vt:lpstr>
      <vt:lpstr>ChronicleVTI</vt:lpstr>
      <vt:lpstr>Classification Linéaire</vt:lpstr>
      <vt:lpstr>Classification Linéaire</vt:lpstr>
      <vt:lpstr>Peut-on utiliser la régression linéaire? </vt:lpstr>
      <vt:lpstr>Regression Logistique</vt:lpstr>
      <vt:lpstr>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Senoune, Samy</dc:creator>
  <cp:lastModifiedBy>Senoune, Samy</cp:lastModifiedBy>
  <cp:revision>4</cp:revision>
  <dcterms:created xsi:type="dcterms:W3CDTF">2026-03-14T19:16:50Z</dcterms:created>
  <dcterms:modified xsi:type="dcterms:W3CDTF">2026-03-18T02:22:57Z</dcterms:modified>
</cp:coreProperties>
</file>