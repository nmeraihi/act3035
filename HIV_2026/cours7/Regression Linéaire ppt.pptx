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5465F0-811D-B775-4908-B9FC6018F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C1D5999-FCB7-7CDA-70C6-F987C1890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17B4A7-4C43-C579-6DAA-2FDE13550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51F4-AD5F-4D52-9C2D-6FA0786023AF}" type="datetimeFigureOut">
              <a:rPr lang="fr-CA" smtClean="0"/>
              <a:t>2026-03-15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4D3E1D-9B2A-3F3B-5B73-38130B6EA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6B507E-B237-0129-206C-C5678494F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BA21-4971-4791-A730-79A5B60D9B2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21813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FCAC99-C8CD-3EBD-E59A-A6FE82ECA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916F04-5016-5C9F-00DE-8421ADA33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C9F602-5554-4DEB-42A5-C3E0D62FF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51F4-AD5F-4D52-9C2D-6FA0786023AF}" type="datetimeFigureOut">
              <a:rPr lang="fr-CA" smtClean="0"/>
              <a:t>2026-03-15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D43926-4436-F347-83B4-95E0C94B1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F5A76B-3CCA-4956-7A41-EA2EB6C5A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BA21-4971-4791-A730-79A5B60D9B2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2497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FBEEB-5745-F4B5-5345-6EE6090AB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E6A6BE-E5F5-E404-203A-FD4CA4EC0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29F87C-E34F-40FD-B9A6-195A3AA3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51F4-AD5F-4D52-9C2D-6FA0786023AF}" type="datetimeFigureOut">
              <a:rPr lang="fr-CA" smtClean="0"/>
              <a:t>2026-03-15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A8A261-7014-6BE0-5D45-2B153A3AC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CE3805-AB77-FFBA-D3E6-430B70DAC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BA21-4971-4791-A730-79A5B60D9B2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50372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D1B218-8D39-E0AF-DD52-6701D7CD9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53851D-8DFE-2A77-77B5-8B25B80A4D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08B2561-302B-2E4B-284F-AC53DDCBD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3B0253E-2908-AD03-84FC-EC1154612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51F4-AD5F-4D52-9C2D-6FA0786023AF}" type="datetimeFigureOut">
              <a:rPr lang="fr-CA" smtClean="0"/>
              <a:t>2026-03-15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B520541-F10F-8417-2B1D-AC75221FB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510125E-BCDC-EE4C-B35C-9D541C7C9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BA21-4971-4791-A730-79A5B60D9B2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99607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B202E8-1D74-F482-D9E2-FC6DE6FEE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905C02-F941-2058-1EA4-8AAF2E59C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9405D92-7343-15A1-D4F4-3022E7210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06A0451-8EAE-BAFE-E606-37EA23C54C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118B939-027A-0079-FBE0-C7AB207B09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F060FF9-4AD5-1F38-0A87-1729C3612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51F4-AD5F-4D52-9C2D-6FA0786023AF}" type="datetimeFigureOut">
              <a:rPr lang="fr-CA" smtClean="0"/>
              <a:t>2026-03-15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F26EBCB-501E-D106-9971-A3BD2291C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AFA3854-9949-FA57-CBF9-A31CAF9AC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BA21-4971-4791-A730-79A5B60D9B2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66605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17C344-5631-9CEF-22B6-910817E4B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10B66B1-FB11-8FDF-AC36-40143447A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51F4-AD5F-4D52-9C2D-6FA0786023AF}" type="datetimeFigureOut">
              <a:rPr lang="fr-CA" smtClean="0"/>
              <a:t>2026-03-15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457DD62-671F-DD1D-F673-B25615C4C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748C43B-D268-BDE4-B0EB-CAA4B2B3A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BA21-4971-4791-A730-79A5B60D9B2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85660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20A27C9-F361-22A0-44E4-A9123CC3D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51F4-AD5F-4D52-9C2D-6FA0786023AF}" type="datetimeFigureOut">
              <a:rPr lang="fr-CA" smtClean="0"/>
              <a:t>2026-03-15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26EA7CA-A86F-3FD3-B337-2923625C8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6544E88-5C5C-52FB-F623-E28E85A33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BA21-4971-4791-A730-79A5B60D9B2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2911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FCDFE2-4FCA-E179-66B9-F6168534D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FCB49F-9A1E-2E18-E938-DEC11EBB6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4B87BC0-F8CE-7E85-F78B-9F69B06E4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6B2970-01DC-6E46-B904-EB2DBDFF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51F4-AD5F-4D52-9C2D-6FA0786023AF}" type="datetimeFigureOut">
              <a:rPr lang="fr-CA" smtClean="0"/>
              <a:t>2026-03-15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3C27B7-730C-C917-7ABC-C12DD86B6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0F95F8-D7E5-8500-7474-FFA0960CA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BA21-4971-4791-A730-79A5B60D9B2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21268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935D8C-122C-6DEB-F490-0164260BD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941BD3E-2E52-A4BF-0F4E-B3F04D7F2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D8DB2DC-CCC2-0E94-61F7-ABFFF5093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455AB2-4A7A-1F7A-CB5A-802CA2ED9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51F4-AD5F-4D52-9C2D-6FA0786023AF}" type="datetimeFigureOut">
              <a:rPr lang="fr-CA" smtClean="0"/>
              <a:t>2026-03-15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0A1DDE7-6861-874F-E2F4-8312276FB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8FD6BF-D90D-48E2-C33E-4F9206CDB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BA21-4971-4791-A730-79A5B60D9B2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4607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FA34F5-F894-007F-1445-F06994A09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55A60A2-D272-E921-E315-B93A14A9F7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99DACB-C235-3907-B56D-84580C543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51F4-AD5F-4D52-9C2D-6FA0786023AF}" type="datetimeFigureOut">
              <a:rPr lang="fr-CA" smtClean="0"/>
              <a:t>2026-03-15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49D2E3-BE56-A84F-AC66-C3F84A548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441E0A-1687-AACF-E3F9-684A96CEF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BA21-4971-4791-A730-79A5B60D9B2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36575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ED9A8AC-B934-3DE9-2BF2-D15C84EC07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4829F19-32AB-7320-EA4A-4AAD5332A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F4282B-1F2E-F00C-9357-FB4EC8173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51F4-AD5F-4D52-9C2D-6FA0786023AF}" type="datetimeFigureOut">
              <a:rPr lang="fr-CA" smtClean="0"/>
              <a:t>2026-03-15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BD70B3-A2E7-C2F5-6ECD-3BA1481EE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6E0414-7710-D022-7531-D20E91AC4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BA21-4971-4791-A730-79A5B60D9B2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148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55E39B3-9869-09B2-BEB2-A045E8EC8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615134-01C3-2F01-2D27-CEAEBD8D9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775B8C-D0F0-5752-D73E-8B6DB661A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A051F4-AD5F-4D52-9C2D-6FA0786023AF}" type="datetimeFigureOut">
              <a:rPr lang="fr-CA" smtClean="0"/>
              <a:t>2026-03-15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1F6EDD-52C5-72E4-D72B-C7BF20F18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8E4316-BAE1-1788-9876-C824C2E03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2EBA21-4971-4791-A730-79A5B60D9B2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8646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4" descr="Motif de fumée sur neige">
            <a:extLst>
              <a:ext uri="{FF2B5EF4-FFF2-40B4-BE49-F238E27FC236}">
                <a16:creationId xmlns:a16="http://schemas.microsoft.com/office/drawing/2014/main" id="{6664F3F7-BC9D-1DCB-7407-8C691036AA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7684" b="888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A2ECE9E-A044-67AC-CA8D-94536351C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fr-CA" dirty="0">
                <a:solidFill>
                  <a:srgbClr val="FFFFFF"/>
                </a:solidFill>
              </a:rPr>
              <a:t>Régression Linéaire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CFEAA11-44E1-6E5A-9711-B7414FBE2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fr-CA">
                <a:solidFill>
                  <a:srgbClr val="FFFFFF"/>
                </a:solidFill>
              </a:rPr>
              <a:t>Cours # 7 </a:t>
            </a:r>
          </a:p>
        </p:txBody>
      </p:sp>
    </p:spTree>
    <p:extLst>
      <p:ext uri="{BB962C8B-B14F-4D97-AF65-F5344CB8AC3E}">
        <p14:creationId xmlns:p14="http://schemas.microsoft.com/office/powerpoint/2010/main" val="3937855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6CCB994-434A-5EB6-EDFC-8E9456015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4" y="161604"/>
            <a:ext cx="6798541" cy="970846"/>
          </a:xfrm>
        </p:spPr>
        <p:txBody>
          <a:bodyPr anchor="b">
            <a:normAutofit/>
          </a:bodyPr>
          <a:lstStyle/>
          <a:p>
            <a:r>
              <a:rPr lang="fr-CA" sz="4000" dirty="0" err="1"/>
              <a:t>Regréssion</a:t>
            </a:r>
            <a:r>
              <a:rPr lang="fr-CA" sz="4000" dirty="0"/>
              <a:t> Linéaire</a:t>
            </a:r>
          </a:p>
        </p:txBody>
      </p:sp>
      <p:pic>
        <p:nvPicPr>
          <p:cNvPr id="5" name="Picture 4" descr="Formules écrites sur un unicolore">
            <a:extLst>
              <a:ext uri="{FF2B5EF4-FFF2-40B4-BE49-F238E27FC236}">
                <a16:creationId xmlns:a16="http://schemas.microsoft.com/office/drawing/2014/main" id="{6DF672C0-404F-BAF8-6E51-2EEC69CD4D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09" r="31346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269581-2560-B93E-D3B7-FEF1BCB8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1375855"/>
            <a:ext cx="6798539" cy="5151554"/>
          </a:xfrm>
        </p:spPr>
        <p:txBody>
          <a:bodyPr>
            <a:normAutofit/>
          </a:bodyPr>
          <a:lstStyle/>
          <a:p>
            <a:r>
              <a:rPr lang="fr-CA" sz="2000" b="1" dirty="0"/>
              <a:t>Méthode statistique </a:t>
            </a:r>
            <a:r>
              <a:rPr lang="fr-CA" sz="2000" dirty="0"/>
              <a:t>qui permet de modéliser la relation linéaire entre</a:t>
            </a:r>
          </a:p>
          <a:p>
            <a:pPr lvl="1"/>
            <a:r>
              <a:rPr lang="fr-CA" sz="2000" dirty="0"/>
              <a:t>Une variable </a:t>
            </a:r>
            <a:r>
              <a:rPr lang="fr-CA" sz="2000" b="1" dirty="0"/>
              <a:t>numérique</a:t>
            </a:r>
            <a:r>
              <a:rPr lang="fr-CA" sz="2000" dirty="0"/>
              <a:t> dépendante </a:t>
            </a:r>
            <a:r>
              <a:rPr lang="fr-CA" sz="2000" b="1" dirty="0"/>
              <a:t>Y</a:t>
            </a:r>
          </a:p>
          <a:p>
            <a:pPr lvl="1"/>
            <a:r>
              <a:rPr lang="fr-CA" sz="2000" dirty="0"/>
              <a:t>Une ou plusieurs variable indépendante/explicative </a:t>
            </a:r>
            <a:r>
              <a:rPr lang="fr-CA" sz="2000" b="1" dirty="0"/>
              <a:t>X</a:t>
            </a:r>
          </a:p>
          <a:p>
            <a:pPr lvl="1"/>
            <a:endParaRPr lang="fr-CA" sz="2000" b="1" dirty="0"/>
          </a:p>
          <a:p>
            <a:r>
              <a:rPr lang="fr-CA" sz="2400" b="1" dirty="0"/>
              <a:t>Objectif </a:t>
            </a:r>
          </a:p>
          <a:p>
            <a:pPr lvl="1"/>
            <a:r>
              <a:rPr lang="fr-CA" sz="2000" dirty="0"/>
              <a:t>Expliquer la relation entre variable</a:t>
            </a:r>
          </a:p>
          <a:p>
            <a:pPr lvl="1"/>
            <a:r>
              <a:rPr lang="fr-CA" sz="2000" dirty="0"/>
              <a:t>Prédire une valeur future</a:t>
            </a:r>
          </a:p>
          <a:p>
            <a:pPr lvl="1"/>
            <a:r>
              <a:rPr lang="fr-CA" sz="2000" dirty="0"/>
              <a:t>Quantifier l’effet d’une variable sur une autre</a:t>
            </a:r>
          </a:p>
          <a:p>
            <a:pPr lvl="1"/>
            <a:endParaRPr lang="fr-CA" sz="2000" dirty="0"/>
          </a:p>
          <a:p>
            <a:r>
              <a:rPr lang="fr-CA" sz="2400" b="1" dirty="0"/>
              <a:t>Exemple</a:t>
            </a:r>
          </a:p>
          <a:p>
            <a:pPr lvl="1"/>
            <a:r>
              <a:rPr lang="fr-CA" sz="2000" dirty="0"/>
              <a:t>Nombre d’heures d’étude vs la note à l’exam</a:t>
            </a:r>
          </a:p>
          <a:p>
            <a:pPr lvl="2"/>
            <a:r>
              <a:rPr lang="fr-CA" sz="1600" dirty="0"/>
              <a:t>Est-ce que étudier plus mène à de meilleures notes ? </a:t>
            </a:r>
          </a:p>
          <a:p>
            <a:pPr lvl="2"/>
            <a:r>
              <a:rPr lang="fr-CA" sz="1600" dirty="0"/>
              <a:t>Un étudiant qui à étudier seulement 1h devrait avoir quel note </a:t>
            </a:r>
          </a:p>
          <a:p>
            <a:pPr lvl="2"/>
            <a:endParaRPr lang="fr-CA" sz="1600" dirty="0"/>
          </a:p>
        </p:txBody>
      </p:sp>
    </p:spTree>
    <p:extLst>
      <p:ext uri="{BB962C8B-B14F-4D97-AF65-F5344CB8AC3E}">
        <p14:creationId xmlns:p14="http://schemas.microsoft.com/office/powerpoint/2010/main" val="3051421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3707D8-6AB6-E5B0-922B-6A91F6455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Regression</a:t>
            </a:r>
            <a:r>
              <a:rPr lang="fr-CA" dirty="0"/>
              <a:t> Linéaire Simple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34980B-CE9B-BE6E-142F-348FED6BC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Seulement une variable explicative X</a:t>
            </a:r>
          </a:p>
          <a:p>
            <a:r>
              <a:rPr lang="fr-CA" dirty="0"/>
              <a:t>Formule </a:t>
            </a:r>
          </a:p>
          <a:p>
            <a:pPr marL="457200" lvl="1" indent="0">
              <a:buNone/>
            </a:pPr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fr-CA" dirty="0"/>
              <a:t> Y = variable dépendante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CA" dirty="0"/>
              <a:t> X = variable explicative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CA" dirty="0"/>
              <a:t> B</a:t>
            </a:r>
            <a:r>
              <a:rPr lang="fr-CA" baseline="-25000" dirty="0"/>
              <a:t>0</a:t>
            </a:r>
            <a:r>
              <a:rPr lang="fr-CA" dirty="0"/>
              <a:t> = Ordonnée à l’origine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CA" dirty="0"/>
              <a:t> B</a:t>
            </a:r>
            <a:r>
              <a:rPr lang="fr-CA" baseline="-25000" dirty="0"/>
              <a:t>1 </a:t>
            </a:r>
            <a:r>
              <a:rPr lang="fr-CA" dirty="0"/>
              <a:t>= pente de la droite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fr-CA" dirty="0"/>
          </a:p>
          <a:p>
            <a:pPr marL="457200" lvl="1" indent="0">
              <a:buNone/>
            </a:pPr>
            <a:endParaRPr lang="fr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F79D1-9759-3756-1E20-59729B4DDCC9}"/>
              </a:ext>
            </a:extLst>
          </p:cNvPr>
          <p:cNvSpPr/>
          <p:nvPr/>
        </p:nvSpPr>
        <p:spPr>
          <a:xfrm>
            <a:off x="1219200" y="2895600"/>
            <a:ext cx="3505200" cy="1321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/>
              <a:t>Y = B</a:t>
            </a:r>
            <a:r>
              <a:rPr lang="fr-CA" sz="2400" b="1" baseline="-25000" dirty="0"/>
              <a:t>0</a:t>
            </a:r>
            <a:r>
              <a:rPr lang="fr-CA" sz="2400" b="1" dirty="0"/>
              <a:t> + B</a:t>
            </a:r>
            <a:r>
              <a:rPr lang="fr-CA" sz="2400" b="1" baseline="-25000" dirty="0"/>
              <a:t>1</a:t>
            </a:r>
            <a:r>
              <a:rPr lang="fr-CA" sz="2400" b="1" dirty="0"/>
              <a:t>X</a:t>
            </a:r>
            <a:r>
              <a:rPr lang="fr-CA" sz="2400" b="1" baseline="-25000" dirty="0"/>
              <a:t>1</a:t>
            </a:r>
            <a:r>
              <a:rPr lang="fr-CA" sz="2400" b="1" dirty="0"/>
              <a:t> + e</a:t>
            </a:r>
          </a:p>
        </p:txBody>
      </p:sp>
    </p:spTree>
    <p:extLst>
      <p:ext uri="{BB962C8B-B14F-4D97-AF65-F5344CB8AC3E}">
        <p14:creationId xmlns:p14="http://schemas.microsoft.com/office/powerpoint/2010/main" val="46595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E31FC-B9EA-653A-E6A2-585D85322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1D91F3-E784-0E2E-FEB7-ACEB40902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Interprétation B</a:t>
            </a:r>
            <a:r>
              <a:rPr lang="fr-CA" baseline="-25000" dirty="0"/>
              <a:t>0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0E3E50-6849-FBDF-97E9-C2C582565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942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CA" b="1" dirty="0"/>
              <a:t>Note=8+1.5×heures d’étude</a:t>
            </a:r>
          </a:p>
          <a:p>
            <a:pPr marL="0" indent="0">
              <a:buNone/>
            </a:pPr>
            <a:endParaRPr lang="fr-CA" dirty="0"/>
          </a:p>
          <a:p>
            <a:r>
              <a:rPr lang="fr-CA" dirty="0"/>
              <a:t>B</a:t>
            </a:r>
            <a:r>
              <a:rPr lang="fr-CA" baseline="-25000" dirty="0"/>
              <a:t>0 </a:t>
            </a:r>
            <a:r>
              <a:rPr lang="fr-CA" dirty="0">
                <a:sym typeface="Wingdings" panose="05000000000000000000" pitchFamily="2" charset="2"/>
              </a:rPr>
              <a:t> O</a:t>
            </a:r>
            <a:r>
              <a:rPr lang="fr-CA" dirty="0"/>
              <a:t>rdonnée à l’origine</a:t>
            </a:r>
            <a:endParaRPr lang="fr-CA" baseline="-25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fr-CA" dirty="0"/>
              <a:t>B</a:t>
            </a:r>
            <a:r>
              <a:rPr lang="fr-CA" baseline="-25000" dirty="0"/>
              <a:t>0 </a:t>
            </a:r>
            <a:r>
              <a:rPr lang="fr-CA" dirty="0"/>
              <a:t> = 8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CA" dirty="0"/>
              <a:t>Valeur de Y lorsque X = 0 </a:t>
            </a:r>
            <a:endParaRPr lang="fr-CA" b="1" dirty="0"/>
          </a:p>
          <a:p>
            <a:pPr marL="457200" lvl="1" indent="0">
              <a:buNone/>
            </a:pPr>
            <a:endParaRPr lang="fr-CA" dirty="0"/>
          </a:p>
          <a:p>
            <a:pPr marL="457200" lvl="1" indent="0">
              <a:buNone/>
            </a:pPr>
            <a:r>
              <a:rPr lang="fr-CA" dirty="0"/>
              <a:t>Note = 8 + 1.5 * 0</a:t>
            </a:r>
          </a:p>
          <a:p>
            <a:pPr marL="457200" lvl="1" indent="0">
              <a:buNone/>
            </a:pPr>
            <a:r>
              <a:rPr lang="fr-CA" dirty="0"/>
              <a:t>Note = 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7EE970-751C-0375-9480-8A2B58EF1B69}"/>
              </a:ext>
            </a:extLst>
          </p:cNvPr>
          <p:cNvSpPr/>
          <p:nvPr/>
        </p:nvSpPr>
        <p:spPr>
          <a:xfrm>
            <a:off x="3650974" y="1825625"/>
            <a:ext cx="5068956" cy="7278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9968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3FA60-6731-8A77-F3A0-B3DC7139A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AD2820-3872-9F44-1D0C-CCFED4F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Interprétation B</a:t>
            </a:r>
            <a:r>
              <a:rPr lang="fr-CA" baseline="-25000" dirty="0"/>
              <a:t>1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DBC415-CC34-2F35-386C-816EBF5E4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942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CA" b="1" dirty="0"/>
              <a:t>Note=8+1.5×heures d’étude</a:t>
            </a:r>
          </a:p>
          <a:p>
            <a:pPr marL="0" indent="0">
              <a:buNone/>
            </a:pPr>
            <a:endParaRPr lang="fr-CA" dirty="0"/>
          </a:p>
          <a:p>
            <a:r>
              <a:rPr lang="fr-CA" dirty="0"/>
              <a:t>B</a:t>
            </a:r>
            <a:r>
              <a:rPr lang="fr-CA" baseline="-25000" dirty="0"/>
              <a:t>1 </a:t>
            </a:r>
            <a:r>
              <a:rPr lang="fr-CA" dirty="0">
                <a:sym typeface="Wingdings" panose="05000000000000000000" pitchFamily="2" charset="2"/>
              </a:rPr>
              <a:t> Pente</a:t>
            </a:r>
            <a:endParaRPr lang="fr-CA" baseline="-25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fr-CA" dirty="0"/>
              <a:t>B</a:t>
            </a:r>
            <a:r>
              <a:rPr lang="fr-CA" baseline="-25000" dirty="0"/>
              <a:t>1 </a:t>
            </a:r>
            <a:r>
              <a:rPr lang="fr-CA" dirty="0"/>
              <a:t> = 1.5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CA" dirty="0"/>
              <a:t>Effet de l’augmentation d’une unité de  X sur Y </a:t>
            </a:r>
            <a:endParaRPr lang="fr-CA" b="1" dirty="0"/>
          </a:p>
          <a:p>
            <a:pPr marL="457200" lvl="1" indent="0">
              <a:buNone/>
            </a:pPr>
            <a:endParaRPr lang="fr-CA" dirty="0"/>
          </a:p>
          <a:p>
            <a:pPr marL="457200" lvl="1" indent="0">
              <a:buNone/>
            </a:pPr>
            <a:r>
              <a:rPr lang="fr-CA" dirty="0"/>
              <a:t>Note</a:t>
            </a:r>
            <a:r>
              <a:rPr lang="fr-CA" baseline="-25000" dirty="0"/>
              <a:t>1 </a:t>
            </a:r>
            <a:r>
              <a:rPr lang="fr-CA" dirty="0"/>
              <a:t>= 8 + 1.5 * (X)</a:t>
            </a:r>
          </a:p>
          <a:p>
            <a:pPr marL="457200" lvl="1" indent="0">
              <a:buNone/>
            </a:pPr>
            <a:r>
              <a:rPr lang="fr-CA" dirty="0"/>
              <a:t>Note</a:t>
            </a:r>
            <a:r>
              <a:rPr lang="fr-CA" baseline="-25000" dirty="0"/>
              <a:t>2 </a:t>
            </a:r>
            <a:r>
              <a:rPr lang="fr-CA" dirty="0"/>
              <a:t>= 8 + 1.5 * (X+1)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fr-CA" dirty="0"/>
              <a:t>Note</a:t>
            </a:r>
            <a:r>
              <a:rPr lang="fr-CA" baseline="-25000" dirty="0"/>
              <a:t>2   </a:t>
            </a:r>
            <a:r>
              <a:rPr lang="fr-CA" dirty="0"/>
              <a:t>- Note</a:t>
            </a:r>
            <a:r>
              <a:rPr lang="fr-CA" baseline="-25000" dirty="0"/>
              <a:t>1 </a:t>
            </a:r>
            <a:r>
              <a:rPr lang="fr-CA" dirty="0"/>
              <a:t>= 1,5</a:t>
            </a:r>
          </a:p>
          <a:p>
            <a:pPr marL="457200" lvl="1" indent="0">
              <a:buNone/>
            </a:pPr>
            <a:r>
              <a:rPr lang="fr-CA" sz="2000" i="1" dirty="0">
                <a:sym typeface="Wingdings" panose="05000000000000000000" pitchFamily="2" charset="2"/>
              </a:rPr>
              <a:t> </a:t>
            </a:r>
            <a:r>
              <a:rPr lang="fr-CA" sz="2000" i="1" dirty="0"/>
              <a:t>une heure d’étude supplémentaire augmente la note moyenne de </a:t>
            </a:r>
            <a:r>
              <a:rPr lang="fr-CA" sz="2000" b="1" i="1" dirty="0"/>
              <a:t>1.5 point</a:t>
            </a:r>
            <a:r>
              <a:rPr lang="fr-CA" dirty="0"/>
              <a:t>.</a:t>
            </a:r>
          </a:p>
          <a:p>
            <a:pPr marL="457200" lvl="1" indent="0">
              <a:buNone/>
            </a:pPr>
            <a:endParaRPr lang="fr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91761D-A3F7-F121-0291-762362EF1ED6}"/>
              </a:ext>
            </a:extLst>
          </p:cNvPr>
          <p:cNvSpPr/>
          <p:nvPr/>
        </p:nvSpPr>
        <p:spPr>
          <a:xfrm>
            <a:off x="3650974" y="1825625"/>
            <a:ext cx="5068956" cy="7278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63384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C23E5-BD9B-2C76-2F0A-85639A5B7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08BF2D-3D8E-AFC6-E53D-9312CE8B7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30" y="206099"/>
            <a:ext cx="10515600" cy="1325563"/>
          </a:xfrm>
        </p:spPr>
        <p:txBody>
          <a:bodyPr/>
          <a:lstStyle/>
          <a:p>
            <a:r>
              <a:rPr lang="fr-CA" b="1" dirty="0"/>
              <a:t>Représentation Graphique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C02875-5A49-0457-54DA-306629B01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94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CA" dirty="0"/>
          </a:p>
          <a:p>
            <a:pPr marL="457200" lvl="1" indent="0">
              <a:buNone/>
            </a:pPr>
            <a:endParaRPr lang="fr-CA" dirty="0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92A4A495-315D-3832-1A53-7E3E3D352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990061"/>
              </p:ext>
            </p:extLst>
          </p:nvPr>
        </p:nvGraphicFramePr>
        <p:xfrm>
          <a:off x="488120" y="1305339"/>
          <a:ext cx="3268870" cy="5063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911">
                  <a:extLst>
                    <a:ext uri="{9D8B030D-6E8A-4147-A177-3AD203B41FA5}">
                      <a16:colId xmlns:a16="http://schemas.microsoft.com/office/drawing/2014/main" val="1423150454"/>
                    </a:ext>
                  </a:extLst>
                </a:gridCol>
                <a:gridCol w="1104039">
                  <a:extLst>
                    <a:ext uri="{9D8B030D-6E8A-4147-A177-3AD203B41FA5}">
                      <a16:colId xmlns:a16="http://schemas.microsoft.com/office/drawing/2014/main" val="314233806"/>
                    </a:ext>
                  </a:extLst>
                </a:gridCol>
                <a:gridCol w="1046920">
                  <a:extLst>
                    <a:ext uri="{9D8B030D-6E8A-4147-A177-3AD203B41FA5}">
                      <a16:colId xmlns:a16="http://schemas.microsoft.com/office/drawing/2014/main" val="3888217627"/>
                    </a:ext>
                  </a:extLst>
                </a:gridCol>
              </a:tblGrid>
              <a:tr h="960783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Nombre d’heures d’études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Notes à l’examen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670567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r>
                        <a:rPr lang="fr-CA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910446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r>
                        <a:rPr lang="fr-CA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82757"/>
                  </a:ext>
                </a:extLst>
              </a:tr>
              <a:tr h="511953">
                <a:tc>
                  <a:txBody>
                    <a:bodyPr/>
                    <a:lstStyle/>
                    <a:p>
                      <a:r>
                        <a:rPr lang="fr-CA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27973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r>
                        <a:rPr lang="fr-CA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575099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r>
                        <a:rPr lang="fr-CA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053248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r>
                        <a:rPr lang="fr-CA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433446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r>
                        <a:rPr lang="fr-CA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753881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r>
                        <a:rPr lang="fr-CA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19013"/>
                  </a:ext>
                </a:extLst>
              </a:tr>
            </a:tbl>
          </a:graphicData>
        </a:graphic>
      </p:graphicFrame>
      <p:pic>
        <p:nvPicPr>
          <p:cNvPr id="11" name="Image 10">
            <a:extLst>
              <a:ext uri="{FF2B5EF4-FFF2-40B4-BE49-F238E27FC236}">
                <a16:creationId xmlns:a16="http://schemas.microsoft.com/office/drawing/2014/main" id="{FF5C35D6-3D45-7237-3ADD-18E429DA1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856" y="1699234"/>
            <a:ext cx="3987897" cy="3987897"/>
          </a:xfrm>
          <a:prstGeom prst="rect">
            <a:avLst/>
          </a:prstGeom>
        </p:spPr>
      </p:pic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F453090-C8DD-19F9-6079-4D2A57E3B2F2}"/>
              </a:ext>
            </a:extLst>
          </p:cNvPr>
          <p:cNvCxnSpPr>
            <a:cxnSpLocks/>
          </p:cNvCxnSpPr>
          <p:nvPr/>
        </p:nvCxnSpPr>
        <p:spPr>
          <a:xfrm flipV="1">
            <a:off x="5638800" y="1699234"/>
            <a:ext cx="2921391" cy="34595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F427E362-A505-ABED-57B4-948CCEEE2253}"/>
              </a:ext>
            </a:extLst>
          </p:cNvPr>
          <p:cNvSpPr txBox="1"/>
          <p:nvPr/>
        </p:nvSpPr>
        <p:spPr>
          <a:xfrm>
            <a:off x="9082594" y="2458278"/>
            <a:ext cx="2679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 err="1"/>
              <a:t>ŷ</a:t>
            </a:r>
            <a:r>
              <a:rPr lang="fr-CA" baseline="-25000" dirty="0" err="1"/>
              <a:t>i</a:t>
            </a:r>
            <a:r>
              <a:rPr lang="fr-CA" dirty="0"/>
              <a:t>= B0 + B1*X </a:t>
            </a:r>
          </a:p>
          <a:p>
            <a:endParaRPr lang="fr-CA" dirty="0"/>
          </a:p>
          <a:p>
            <a:r>
              <a:rPr lang="fr-CA" dirty="0"/>
              <a:t>y</a:t>
            </a:r>
            <a:r>
              <a:rPr lang="fr-CA" baseline="-25000" dirty="0"/>
              <a:t>i</a:t>
            </a:r>
            <a:r>
              <a:rPr lang="fr-CA" dirty="0"/>
              <a:t>= B0 + B1*X + </a:t>
            </a:r>
            <a:r>
              <a:rPr lang="fr-CA" dirty="0" err="1"/>
              <a:t>error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337084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2C597-ADF0-31E3-EAC7-7DEDB531A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4DE054-3769-0AD4-5BA3-6DE160258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30" y="206099"/>
            <a:ext cx="10515600" cy="1325563"/>
          </a:xfrm>
        </p:spPr>
        <p:txBody>
          <a:bodyPr/>
          <a:lstStyle/>
          <a:p>
            <a:r>
              <a:rPr lang="fr-CA" dirty="0"/>
              <a:t>Méthode d’estimation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6904A5-9B9F-AF9E-91DB-F5998C84D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9424"/>
            <a:ext cx="10515600" cy="4938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dirty="0"/>
              <a:t>On cherche les coefficients B</a:t>
            </a:r>
            <a:r>
              <a:rPr lang="fr-CA" baseline="-25000" dirty="0"/>
              <a:t>0</a:t>
            </a:r>
            <a:r>
              <a:rPr lang="fr-CA" dirty="0"/>
              <a:t>, B</a:t>
            </a:r>
            <a:r>
              <a:rPr lang="fr-CA" baseline="-25000" dirty="0"/>
              <a:t>1</a:t>
            </a:r>
            <a:r>
              <a:rPr lang="fr-CA" dirty="0"/>
              <a:t> qui minimisent la somme des erreurs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sz="2000" i="1" dirty="0"/>
              <a:t>*La méthode des moindres carrés</a:t>
            </a:r>
          </a:p>
          <a:p>
            <a:pPr marL="0" indent="0">
              <a:buNone/>
            </a:pPr>
            <a:endParaRPr lang="fr-CA" dirty="0"/>
          </a:p>
          <a:p>
            <a:pPr marL="457200" lvl="1" indent="0">
              <a:buNone/>
            </a:pPr>
            <a:endParaRPr lang="fr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4E07505-E9F7-AC11-1F36-1ED02DCBB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303" y="2893590"/>
            <a:ext cx="2122051" cy="212205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B9823A9-D67E-5AE6-69F5-31086551D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306" y="5715488"/>
            <a:ext cx="1592361" cy="68372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5BEEECC-2C5C-EA13-D8F7-18CEC6F5A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1288" y="5715489"/>
            <a:ext cx="1734717" cy="68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05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CEEBDD-962D-4164-2AB5-9C89ACE75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Régression linéaire multiple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F17630-FC94-1C90-A0A6-DDCD1D6D5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Lorsqu’on a plusieurs variables explicatives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sz="2000" dirty="0"/>
              <a:t>*Difficile de faire de représentation graphique.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15F128-4A7C-C07E-CB93-B64F3E695A85}"/>
              </a:ext>
            </a:extLst>
          </p:cNvPr>
          <p:cNvSpPr/>
          <p:nvPr/>
        </p:nvSpPr>
        <p:spPr>
          <a:xfrm>
            <a:off x="1318591" y="2673626"/>
            <a:ext cx="4883427" cy="13152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/>
              <a:t>Y = B</a:t>
            </a:r>
            <a:r>
              <a:rPr lang="fr-CA" sz="2400" b="1" baseline="-25000" dirty="0"/>
              <a:t>0</a:t>
            </a:r>
            <a:r>
              <a:rPr lang="fr-CA" sz="2400" b="1" dirty="0"/>
              <a:t> + B</a:t>
            </a:r>
            <a:r>
              <a:rPr lang="fr-CA" sz="2400" b="1" baseline="-25000" dirty="0"/>
              <a:t>1</a:t>
            </a:r>
            <a:r>
              <a:rPr lang="fr-CA" sz="2400" b="1" dirty="0"/>
              <a:t>X</a:t>
            </a:r>
            <a:r>
              <a:rPr lang="fr-CA" sz="2400" b="1" baseline="-25000" dirty="0"/>
              <a:t>1</a:t>
            </a:r>
            <a:r>
              <a:rPr lang="fr-CA" sz="2400" b="1" dirty="0"/>
              <a:t> + B</a:t>
            </a:r>
            <a:r>
              <a:rPr lang="fr-CA" sz="2400" b="1" baseline="-25000" dirty="0"/>
              <a:t>2</a:t>
            </a:r>
            <a:r>
              <a:rPr lang="fr-CA" sz="2400" b="1" dirty="0"/>
              <a:t>X</a:t>
            </a:r>
            <a:r>
              <a:rPr lang="fr-CA" sz="2400" b="1" baseline="-25000" dirty="0"/>
              <a:t>2</a:t>
            </a:r>
            <a:r>
              <a:rPr lang="fr-CA" sz="2400" b="1" dirty="0"/>
              <a:t> + … + </a:t>
            </a:r>
            <a:r>
              <a:rPr lang="fr-CA" sz="2400" b="1" dirty="0" err="1"/>
              <a:t>B</a:t>
            </a:r>
            <a:r>
              <a:rPr lang="fr-CA" sz="2400" b="1" baseline="-25000" dirty="0" err="1"/>
              <a:t>k</a:t>
            </a:r>
            <a:r>
              <a:rPr lang="fr-CA" sz="2400" b="1" dirty="0" err="1"/>
              <a:t>X</a:t>
            </a:r>
            <a:r>
              <a:rPr lang="fr-CA" sz="2400" b="1" baseline="-25000" dirty="0" err="1"/>
              <a:t>k</a:t>
            </a:r>
            <a:r>
              <a:rPr lang="fr-CA" sz="2400" b="1" dirty="0"/>
              <a:t> + e</a:t>
            </a:r>
          </a:p>
        </p:txBody>
      </p:sp>
    </p:spTree>
    <p:extLst>
      <p:ext uri="{BB962C8B-B14F-4D97-AF65-F5344CB8AC3E}">
        <p14:creationId xmlns:p14="http://schemas.microsoft.com/office/powerpoint/2010/main" val="156610846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5190</TotalTime>
  <Words>309</Words>
  <Application>Microsoft Office PowerPoint</Application>
  <PresentationFormat>Grand écran</PresentationFormat>
  <Paragraphs>97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Wingdings</vt:lpstr>
      <vt:lpstr>Thème Office</vt:lpstr>
      <vt:lpstr>Régression Linéaire </vt:lpstr>
      <vt:lpstr>Regréssion Linéaire</vt:lpstr>
      <vt:lpstr>Regression Linéaire Simple</vt:lpstr>
      <vt:lpstr>Interprétation B0</vt:lpstr>
      <vt:lpstr>Interprétation B1</vt:lpstr>
      <vt:lpstr>Représentation Graphique</vt:lpstr>
      <vt:lpstr>Méthode d’estimation </vt:lpstr>
      <vt:lpstr>Régression linéaire multiple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Senoune, Samy</dc:creator>
  <cp:lastModifiedBy>Senoune, Samy</cp:lastModifiedBy>
  <cp:revision>2</cp:revision>
  <dcterms:created xsi:type="dcterms:W3CDTF">2026-03-07T17:00:31Z</dcterms:created>
  <dcterms:modified xsi:type="dcterms:W3CDTF">2026-03-16T19:19:24Z</dcterms:modified>
</cp:coreProperties>
</file>