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7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50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0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99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42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7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34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4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45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8041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A3CE2-2C74-DD58-16F0-5B43B2F8E8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074" b="6676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6600" y="1066800"/>
            <a:ext cx="4681728" cy="4724400"/>
          </a:xfrm>
          <a:prstGeom prst="rect">
            <a:avLst/>
          </a:prstGeom>
          <a:solidFill>
            <a:schemeClr val="bg1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BD22827-239A-53EF-A174-B7EBD84D6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2658" y="1562101"/>
            <a:ext cx="4451632" cy="2738530"/>
          </a:xfrm>
        </p:spPr>
        <p:txBody>
          <a:bodyPr anchor="t">
            <a:normAutofit/>
          </a:bodyPr>
          <a:lstStyle/>
          <a:p>
            <a:pPr algn="ctr"/>
            <a:r>
              <a:rPr lang="fr-CA" sz="4800" dirty="0"/>
              <a:t>Intro à Git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FA4261D-57ED-08E1-4747-90B4F7413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9606" y="4321622"/>
            <a:ext cx="4183164" cy="941832"/>
          </a:xfrm>
        </p:spPr>
        <p:txBody>
          <a:bodyPr>
            <a:normAutofit/>
          </a:bodyPr>
          <a:lstStyle/>
          <a:p>
            <a:r>
              <a:rPr lang="fr-CA" sz="2000" dirty="0"/>
              <a:t>Cours #9 25/03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9619035" y="3435440"/>
            <a:ext cx="0" cy="469087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955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1817671-12F1-74FA-5E56-A2A39C3B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3076634" cy="1807048"/>
          </a:xfrm>
        </p:spPr>
        <p:txBody>
          <a:bodyPr anchor="b">
            <a:normAutofit/>
          </a:bodyPr>
          <a:lstStyle/>
          <a:p>
            <a:r>
              <a:rPr lang="fr-CA" sz="3600" dirty="0"/>
              <a:t>Pourquoi Git ?</a:t>
            </a:r>
          </a:p>
        </p:txBody>
      </p:sp>
      <p:pic>
        <p:nvPicPr>
          <p:cNvPr id="1026" name="Picture 2" descr="Travail en équipe : renforcer la cohésion d'entreprise">
            <a:extLst>
              <a:ext uri="{FF2B5EF4-FFF2-40B4-BE49-F238E27FC236}">
                <a16:creationId xmlns:a16="http://schemas.microsoft.com/office/drawing/2014/main" id="{896910F5-8999-0D0B-0AE5-5C80F9FD0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5" r="-1" b="-1"/>
          <a:stretch>
            <a:fillRect/>
          </a:stretch>
        </p:blipFill>
        <p:spPr bwMode="auto">
          <a:xfrm>
            <a:off x="20" y="535709"/>
            <a:ext cx="8229580" cy="582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B93C1A-EE4C-1023-F0C1-A1C4871E5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r>
              <a:rPr lang="fr-CA" dirty="0"/>
              <a:t>La programmation, un travail d’équipe? </a:t>
            </a:r>
          </a:p>
          <a:p>
            <a:pPr lvl="1"/>
            <a:r>
              <a:rPr lang="fr-CA" dirty="0"/>
              <a:t>Collaboration autour d’un script</a:t>
            </a:r>
          </a:p>
          <a:p>
            <a:pPr lvl="1"/>
            <a:r>
              <a:rPr lang="fr-CA" dirty="0"/>
              <a:t>Modélisation </a:t>
            </a:r>
          </a:p>
          <a:p>
            <a:pPr lvl="1"/>
            <a:r>
              <a:rPr lang="fr-CA" dirty="0"/>
              <a:t>Peer-</a:t>
            </a:r>
            <a:r>
              <a:rPr lang="fr-CA" dirty="0" err="1"/>
              <a:t>Review</a:t>
            </a:r>
            <a:r>
              <a:rPr lang="fr-CA" dirty="0"/>
              <a:t> / Révision pas les pairs</a:t>
            </a:r>
          </a:p>
          <a:p>
            <a:pPr lvl="2"/>
            <a:r>
              <a:rPr lang="fr-CA" dirty="0"/>
              <a:t>Feedbacks</a:t>
            </a:r>
          </a:p>
        </p:txBody>
      </p:sp>
    </p:spTree>
    <p:extLst>
      <p:ext uri="{BB962C8B-B14F-4D97-AF65-F5344CB8AC3E}">
        <p14:creationId xmlns:p14="http://schemas.microsoft.com/office/powerpoint/2010/main" val="415277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8CDFC0-9F21-D833-F2C9-8412B2C74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Qu’est ce que Git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E66FC1-B8CA-59C7-704F-C6CA9604E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Système de gestion de versions décentralisé et gratuit</a:t>
            </a:r>
          </a:p>
          <a:p>
            <a:pPr lvl="1"/>
            <a:r>
              <a:rPr lang="fr-CA" dirty="0"/>
              <a:t>Historiser les modifications.</a:t>
            </a:r>
          </a:p>
          <a:p>
            <a:pPr lvl="1"/>
            <a:r>
              <a:rPr lang="fr-CA" dirty="0"/>
              <a:t>Plusieurs membres d’une équipe peuvent modifier le même fichier sans écraser le travail. </a:t>
            </a:r>
          </a:p>
          <a:p>
            <a:pPr lvl="1"/>
            <a:r>
              <a:rPr lang="fr-CA" dirty="0"/>
              <a:t>Expérimenter sans risque</a:t>
            </a:r>
          </a:p>
          <a:p>
            <a:pPr marL="265176" lvl="1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b="1" dirty="0"/>
              <a:t>Git</a:t>
            </a:r>
            <a:r>
              <a:rPr lang="fr-CA" dirty="0"/>
              <a:t> est l'outil (logiciel) que vous installez localement sur votre ordinateur pour gérer vos fichiers.</a:t>
            </a:r>
            <a:r>
              <a:rPr lang="fr-CA" dirty="0">
                <a:solidFill>
                  <a:srgbClr val="1AC16E"/>
                </a:solidFill>
              </a:rPr>
              <a:t> </a:t>
            </a:r>
            <a:r>
              <a:rPr lang="fr-CA" b="1" dirty="0"/>
              <a:t>GitHub</a:t>
            </a:r>
            <a:r>
              <a:rPr lang="fr-CA" dirty="0"/>
              <a:t> (ou </a:t>
            </a:r>
            <a:r>
              <a:rPr lang="fr-CA" dirty="0" err="1"/>
              <a:t>GitLab</a:t>
            </a:r>
            <a:r>
              <a:rPr lang="fr-CA" dirty="0"/>
              <a:t>, </a:t>
            </a:r>
            <a:r>
              <a:rPr lang="fr-CA" dirty="0" err="1"/>
              <a:t>Bitbucket</a:t>
            </a:r>
            <a:r>
              <a:rPr lang="fr-CA" dirty="0"/>
              <a:t>) est une plateforme en ligne qui héberge vos dépôts Git, facilitant ainsi la collaboration à distance et le partage de code.</a:t>
            </a:r>
          </a:p>
        </p:txBody>
      </p:sp>
    </p:spTree>
    <p:extLst>
      <p:ext uri="{BB962C8B-B14F-4D97-AF65-F5344CB8AC3E}">
        <p14:creationId xmlns:p14="http://schemas.microsoft.com/office/powerpoint/2010/main" val="417767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100E2-A39F-48E2-FE1B-601BE0A31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173085-41C5-490E-7B16-54541445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Git avec </a:t>
            </a:r>
            <a:r>
              <a:rPr lang="fr-CA" dirty="0" err="1"/>
              <a:t>Rstudio</a:t>
            </a: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D53C75-0CC4-8F27-93C9-2AD17361C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CA" dirty="0"/>
              <a:t>À l’aide de l’onglet git dans l’éditeur </a:t>
            </a:r>
          </a:p>
          <a:p>
            <a:pPr lvl="2"/>
            <a:r>
              <a:rPr lang="fr-CA" dirty="0"/>
              <a:t>User </a:t>
            </a:r>
            <a:r>
              <a:rPr lang="fr-CA" dirty="0" err="1"/>
              <a:t>friendly</a:t>
            </a:r>
            <a:endParaRPr lang="fr-CA" dirty="0"/>
          </a:p>
          <a:p>
            <a:pPr lvl="1"/>
            <a:endParaRPr lang="fr-CA" dirty="0"/>
          </a:p>
          <a:p>
            <a:pPr marL="265176" lvl="1" indent="0">
              <a:buNone/>
            </a:pPr>
            <a:endParaRPr lang="fr-CA" dirty="0"/>
          </a:p>
          <a:p>
            <a:pPr lvl="1"/>
            <a:r>
              <a:rPr lang="fr-CA" dirty="0"/>
              <a:t>À l’aide du terminal</a:t>
            </a:r>
          </a:p>
          <a:p>
            <a:pPr lvl="2"/>
            <a:r>
              <a:rPr lang="fr-CA" dirty="0"/>
              <a:t>Directement dans le système d’exploitation de votre ordinateur (</a:t>
            </a:r>
            <a:r>
              <a:rPr lang="fr-CA" dirty="0" err="1"/>
              <a:t>shell</a:t>
            </a:r>
            <a:r>
              <a:rPr lang="fr-CA" dirty="0"/>
              <a:t>)</a:t>
            </a:r>
          </a:p>
          <a:p>
            <a:pPr lvl="2"/>
            <a:r>
              <a:rPr lang="fr-CA" dirty="0" err="1"/>
              <a:t>Language</a:t>
            </a:r>
            <a:r>
              <a:rPr lang="fr-CA" dirty="0"/>
              <a:t> PowerShell/CMD (Windows)</a:t>
            </a:r>
          </a:p>
          <a:p>
            <a:pPr marL="265176" lvl="1" indent="0">
              <a:buNone/>
            </a:pPr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D7FBFA-07A5-C1DB-A682-94FABC9BC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73" y="2633472"/>
            <a:ext cx="5024195" cy="13208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CD25FF8-E96E-AAE9-F3D4-00C9E682D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314836"/>
            <a:ext cx="7180178" cy="139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0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9C6B6-3356-6CC9-14A9-04A093745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0CAB4-4F08-C8E5-1F66-6C3F7FFFE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Clone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AA60D7-F445-2171-1F96-5C38D215E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CA" sz="1800" b="1" dirty="0"/>
              <a:t>Créer une copie locale exacte</a:t>
            </a:r>
            <a:r>
              <a:rPr lang="fr-CA" sz="1800" dirty="0"/>
              <a:t> d'un dépôt distant (hébergé sur GitHub, </a:t>
            </a:r>
            <a:r>
              <a:rPr lang="fr-CA" sz="1800" dirty="0" err="1"/>
              <a:t>GitLab</a:t>
            </a:r>
            <a:r>
              <a:rPr lang="fr-CA" sz="1800" dirty="0"/>
              <a:t>, </a:t>
            </a:r>
            <a:r>
              <a:rPr lang="fr-CA" sz="1800" dirty="0" err="1"/>
              <a:t>Bitbucket</a:t>
            </a:r>
            <a:r>
              <a:rPr lang="fr-CA" sz="1800" dirty="0"/>
              <a:t>, etc.) sur votre propre ordinateur.</a:t>
            </a:r>
          </a:p>
          <a:p>
            <a:pPr lvl="2">
              <a:lnSpc>
                <a:spcPct val="100000"/>
              </a:lnSpc>
            </a:pPr>
            <a:r>
              <a:rPr lang="fr-CA" dirty="0"/>
              <a:t>Télécharge les </a:t>
            </a:r>
            <a:r>
              <a:rPr lang="fr-CA" b="1" dirty="0"/>
              <a:t>fichiers</a:t>
            </a:r>
            <a:r>
              <a:rPr lang="fr-CA" dirty="0"/>
              <a:t> et dossiers du projet.</a:t>
            </a:r>
          </a:p>
          <a:p>
            <a:pPr lvl="2">
              <a:lnSpc>
                <a:spcPct val="100000"/>
              </a:lnSpc>
            </a:pPr>
            <a:r>
              <a:rPr lang="fr-CA" dirty="0"/>
              <a:t>Télécharge tout l'</a:t>
            </a:r>
            <a:r>
              <a:rPr lang="fr-CA" b="1" dirty="0"/>
              <a:t>historique</a:t>
            </a:r>
            <a:r>
              <a:rPr lang="fr-CA" dirty="0"/>
              <a:t> des modifications (tous les </a:t>
            </a:r>
            <a:r>
              <a:rPr lang="fr-CA" dirty="0" err="1"/>
              <a:t>commits</a:t>
            </a:r>
            <a:r>
              <a:rPr lang="fr-CA" dirty="0"/>
              <a:t> passés).</a:t>
            </a:r>
          </a:p>
          <a:p>
            <a:pPr lvl="2">
              <a:lnSpc>
                <a:spcPct val="100000"/>
              </a:lnSpc>
            </a:pPr>
            <a:r>
              <a:rPr lang="fr-CA" dirty="0"/>
              <a:t>Télécharge Toutes les </a:t>
            </a:r>
            <a:r>
              <a:rPr lang="fr-CA" b="1" dirty="0"/>
              <a:t>branches</a:t>
            </a:r>
            <a:r>
              <a:rPr lang="fr-CA" dirty="0"/>
              <a:t> créées par l'équipe.</a:t>
            </a:r>
          </a:p>
          <a:p>
            <a:pPr marL="457200" indent="-457200">
              <a:buFont typeface="+mj-lt"/>
              <a:buAutoNum type="arabicPeriod"/>
            </a:pPr>
            <a:r>
              <a:rPr lang="fr-CA" sz="1800" dirty="0"/>
              <a:t>Établir </a:t>
            </a:r>
            <a:r>
              <a:rPr lang="fr-CA" sz="1800" b="1" dirty="0"/>
              <a:t>la connexion automatique</a:t>
            </a:r>
          </a:p>
          <a:p>
            <a:pPr lvl="2"/>
            <a:r>
              <a:rPr lang="fr-CA" dirty="0"/>
              <a:t>Un lien entre votre version locale et le serveur d'origine.</a:t>
            </a:r>
            <a:br>
              <a:rPr lang="fr-CA" dirty="0"/>
            </a:b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265176" lvl="1" indent="0">
              <a:buNone/>
            </a:pPr>
            <a:endParaRPr lang="fr-CA" dirty="0"/>
          </a:p>
          <a:p>
            <a:pPr marL="265176" lvl="1" indent="0">
              <a:buNone/>
            </a:pPr>
            <a:endParaRPr lang="fr-CA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645604-ECE3-0F33-B997-C60F58EB1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110" y="197840"/>
            <a:ext cx="3389470" cy="2347522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FD022162-0061-6DE9-7BB9-10AB113DD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Toutes les </a:t>
            </a: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branches</a:t>
            </a: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créées par l'équipe.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642AB-631C-A991-7F6C-8DD5D9F74EE9}"/>
              </a:ext>
            </a:extLst>
          </p:cNvPr>
          <p:cNvSpPr/>
          <p:nvPr/>
        </p:nvSpPr>
        <p:spPr>
          <a:xfrm>
            <a:off x="2968486" y="1430117"/>
            <a:ext cx="3942522" cy="77286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  <a:spcBef>
                <a:spcPts val="600"/>
              </a:spcBef>
            </a:pPr>
            <a:r>
              <a:rPr lang="fr-CA" b="1" dirty="0"/>
              <a:t>git clone </a:t>
            </a:r>
            <a:r>
              <a:rPr lang="fr-CA" dirty="0"/>
              <a:t>https://github.com</a:t>
            </a:r>
          </a:p>
          <a:p>
            <a:pPr algn="ctr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88611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B9FD-B2F4-127A-1D4B-CDCCA6C0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637928-994A-8936-98E8-DF2ACA1C2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 err="1"/>
              <a:t>Add</a:t>
            </a:r>
            <a:r>
              <a:rPr lang="fr-CA" dirty="0"/>
              <a:t> + Commit + Push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E1276E-8BA8-FC2E-202B-AE138121E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fr-CA" b="1" dirty="0"/>
              <a:t>Le </a:t>
            </a:r>
            <a:r>
              <a:rPr lang="fr-CA" b="1" dirty="0" err="1"/>
              <a:t>Concep</a:t>
            </a:r>
            <a:r>
              <a:rPr lang="fr-CA" b="1" dirty="0"/>
              <a:t> : L’analogie du Colis</a:t>
            </a:r>
          </a:p>
          <a:p>
            <a:pPr lvl="1"/>
            <a:r>
              <a:rPr lang="fr-CA" sz="1600" b="1" dirty="0"/>
              <a:t>Les fichiers modifiés</a:t>
            </a:r>
            <a:r>
              <a:rPr lang="fr-CA" sz="1600" dirty="0"/>
              <a:t> : Ce sont les objets sur votre bureau.</a:t>
            </a:r>
          </a:p>
          <a:p>
            <a:pPr marL="608076" lvl="1" indent="-342900">
              <a:buFont typeface="+mj-lt"/>
              <a:buAutoNum type="arabicPeriod"/>
            </a:pPr>
            <a:r>
              <a:rPr lang="fr-CA" b="1" dirty="0"/>
              <a:t>git </a:t>
            </a:r>
            <a:r>
              <a:rPr lang="fr-CA" b="1" dirty="0" err="1"/>
              <a:t>add</a:t>
            </a:r>
            <a:r>
              <a:rPr lang="fr-CA" b="1" dirty="0"/>
              <a:t> (Le carton)</a:t>
            </a:r>
            <a:r>
              <a:rPr lang="fr-CA" dirty="0"/>
              <a:t> : Vous placez les objets choisis dans le carton. Ils sont en zone de préparation (</a:t>
            </a:r>
            <a:r>
              <a:rPr lang="fr-CA" i="1" dirty="0" err="1"/>
              <a:t>Staging</a:t>
            </a:r>
            <a:r>
              <a:rPr lang="fr-CA" i="1" dirty="0"/>
              <a:t> Area</a:t>
            </a:r>
            <a:r>
              <a:rPr lang="fr-CA" dirty="0"/>
              <a:t>).</a:t>
            </a:r>
          </a:p>
          <a:p>
            <a:pPr marL="608076" lvl="1" indent="-342900">
              <a:buFont typeface="+mj-lt"/>
              <a:buAutoNum type="arabicPeriod"/>
            </a:pPr>
            <a:r>
              <a:rPr lang="fr-CA" b="1" dirty="0"/>
              <a:t>git commit (L'étiquette)</a:t>
            </a:r>
            <a:r>
              <a:rPr lang="fr-CA" dirty="0"/>
              <a:t> : Vous fermez le carton et collez une étiquette descriptive. Le colis est enregistré dans l'histoire.</a:t>
            </a:r>
          </a:p>
          <a:p>
            <a:pPr marL="608076" lvl="1" indent="-342900">
              <a:buFont typeface="+mj-lt"/>
              <a:buAutoNum type="arabicPeriod"/>
            </a:pPr>
            <a:r>
              <a:rPr lang="fr-CA" b="1" dirty="0"/>
              <a:t>git push </a:t>
            </a:r>
            <a:r>
              <a:rPr lang="fr-CA" dirty="0"/>
              <a:t>les cartons sont envoyés au Git Hub. </a:t>
            </a:r>
          </a:p>
          <a:p>
            <a:pPr marL="265176" lvl="1" indent="0">
              <a:buNone/>
            </a:pPr>
            <a:endParaRPr lang="fr-CA" dirty="0"/>
          </a:p>
          <a:p>
            <a:pPr marL="265176" lvl="1" indent="0">
              <a:buNone/>
            </a:pPr>
            <a:br>
              <a:rPr lang="fr-CA" dirty="0"/>
            </a:b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265176" lvl="1" indent="0">
              <a:buNone/>
            </a:pPr>
            <a:endParaRPr lang="fr-CA" dirty="0"/>
          </a:p>
          <a:p>
            <a:pPr marL="265176" lvl="1" indent="0">
              <a:buNone/>
            </a:pPr>
            <a:endParaRPr lang="fr-CA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2DC1F4D-2542-DEB3-5C60-AFAB4DA7C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Toutes les </a:t>
            </a: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branches</a:t>
            </a: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créées par l'équipe.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64C4F7-0F92-A16A-65DE-908E95CB7073}"/>
              </a:ext>
            </a:extLst>
          </p:cNvPr>
          <p:cNvSpPr/>
          <p:nvPr/>
        </p:nvSpPr>
        <p:spPr>
          <a:xfrm>
            <a:off x="5844209" y="1207010"/>
            <a:ext cx="6076121" cy="103340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CA" dirty="0"/>
              <a:t>- git </a:t>
            </a:r>
            <a:r>
              <a:rPr lang="fr-CA" dirty="0" err="1"/>
              <a:t>add</a:t>
            </a:r>
            <a:r>
              <a:rPr lang="fr-CA" dirty="0"/>
              <a:t> scripts/</a:t>
            </a:r>
            <a:r>
              <a:rPr lang="fr-CA" dirty="0" err="1"/>
              <a:t>nettoyage_donnees.R</a:t>
            </a:r>
            <a:endParaRPr lang="fr-CA" dirty="0"/>
          </a:p>
          <a:p>
            <a:r>
              <a:rPr lang="fr-CA" dirty="0"/>
              <a:t>- git commit -m " Description de vos modifications "</a:t>
            </a:r>
          </a:p>
          <a:p>
            <a:r>
              <a:rPr lang="fr-CA" dirty="0"/>
              <a:t>- git push </a:t>
            </a:r>
          </a:p>
        </p:txBody>
      </p:sp>
      <p:pic>
        <p:nvPicPr>
          <p:cNvPr id="3076" name="Picture 4" descr="Le carton pour vos colis : comment le choisir ? - Blog RAJA FR">
            <a:extLst>
              <a:ext uri="{FF2B5EF4-FFF2-40B4-BE49-F238E27FC236}">
                <a16:creationId xmlns:a16="http://schemas.microsoft.com/office/drawing/2014/main" id="{D84D304E-8D33-5701-F925-C371B5122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182" y="4416552"/>
            <a:ext cx="2924797" cy="2451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96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4F3BD-EDDF-03F0-6BD8-BAEE639A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710461-A4FD-B7DE-CE65-95B70132C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Pull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87F46-0418-A797-10FF-E7B39F1A5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600" dirty="0"/>
              <a:t> Récupérer les scripts ou analyses ajoutés par vos collègues</a:t>
            </a:r>
            <a:endParaRPr lang="fr-CA" dirty="0"/>
          </a:p>
          <a:p>
            <a:r>
              <a:rPr lang="fr-CA" b="1" dirty="0" err="1"/>
              <a:t>fetch</a:t>
            </a:r>
            <a:r>
              <a:rPr lang="fr-CA" dirty="0"/>
              <a:t> : Il télécharge les nouveaux fichiers et l'historique du serveur.</a:t>
            </a:r>
          </a:p>
          <a:p>
            <a:r>
              <a:rPr lang="fr-CA" b="1" dirty="0"/>
              <a:t>merge</a:t>
            </a:r>
            <a:r>
              <a:rPr lang="fr-CA" dirty="0"/>
              <a:t> : Il fusionne automatiquement ces changements dans vos fichiers actuels</a:t>
            </a:r>
          </a:p>
          <a:p>
            <a:pPr lvl="1"/>
            <a:r>
              <a:rPr lang="fr-CA" dirty="0" err="1"/>
              <a:t>Attentoin</a:t>
            </a:r>
            <a:r>
              <a:rPr lang="fr-CA" dirty="0"/>
              <a:t> au conflit </a:t>
            </a:r>
            <a:r>
              <a:rPr lang="fr-CA" dirty="0">
                <a:sym typeface="Wingdings" panose="05000000000000000000" pitchFamily="2" charset="2"/>
              </a:rPr>
              <a:t> Merge </a:t>
            </a:r>
            <a:r>
              <a:rPr lang="fr-CA" dirty="0" err="1">
                <a:sym typeface="Wingdings" panose="05000000000000000000" pitchFamily="2" charset="2"/>
              </a:rPr>
              <a:t>Conflict</a:t>
            </a:r>
            <a:endParaRPr lang="fr-CA" dirty="0"/>
          </a:p>
          <a:p>
            <a:pPr marL="265176" lvl="1" indent="0">
              <a:buNone/>
            </a:pPr>
            <a:br>
              <a:rPr lang="fr-CA" dirty="0"/>
            </a:b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marL="265176" lvl="1" indent="0">
              <a:buNone/>
            </a:pPr>
            <a:endParaRPr lang="fr-CA" dirty="0"/>
          </a:p>
          <a:p>
            <a:pPr marL="265176" lvl="1" indent="0">
              <a:buNone/>
            </a:pPr>
            <a:endParaRPr lang="fr-CA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4565755-4B17-AC9D-A02D-F18516DC5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Toutes les </a:t>
            </a: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branches</a:t>
            </a: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créées par l'équipe.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D8C631-A0B0-7BDC-22A3-533EE3C08CD8}"/>
              </a:ext>
            </a:extLst>
          </p:cNvPr>
          <p:cNvSpPr/>
          <p:nvPr/>
        </p:nvSpPr>
        <p:spPr>
          <a:xfrm>
            <a:off x="3379304" y="1371601"/>
            <a:ext cx="2650433" cy="65598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- git pull </a:t>
            </a:r>
          </a:p>
        </p:txBody>
      </p:sp>
    </p:spTree>
    <p:extLst>
      <p:ext uri="{BB962C8B-B14F-4D97-AF65-F5344CB8AC3E}">
        <p14:creationId xmlns:p14="http://schemas.microsoft.com/office/powerpoint/2010/main" val="356510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720B0-2D46-0409-1F33-C682FA94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E3A2CA-8DBA-07A4-BDCA-6F6E819D2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Branch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84F52F-AE06-D0EA-E3B8-2103D5E6E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11" y="2295541"/>
            <a:ext cx="10890928" cy="3566160"/>
          </a:xfrm>
        </p:spPr>
        <p:txBody>
          <a:bodyPr>
            <a:normAutofit/>
          </a:bodyPr>
          <a:lstStyle/>
          <a:p>
            <a:r>
              <a:rPr lang="fr-CA" b="1" dirty="0"/>
              <a:t>Analogie</a:t>
            </a:r>
            <a:r>
              <a:rPr lang="fr-CA" dirty="0"/>
              <a:t> : Imaginez un arbre. Le tronc (</a:t>
            </a:r>
            <a:r>
              <a:rPr lang="fr-CA" b="1" dirty="0"/>
              <a:t>main</a:t>
            </a:r>
            <a:r>
              <a:rPr lang="fr-CA" dirty="0"/>
              <a:t> ou </a:t>
            </a:r>
            <a:r>
              <a:rPr lang="fr-CA" b="1" dirty="0"/>
              <a:t>master</a:t>
            </a:r>
            <a:r>
              <a:rPr lang="fr-CA" dirty="0"/>
              <a:t>) est votre version stable. Une branche est une déviation pour tester une nouvelle idée ou corriger un bug.</a:t>
            </a:r>
          </a:p>
          <a:p>
            <a:pPr lvl="1"/>
            <a:r>
              <a:rPr lang="fr-CA" dirty="0"/>
              <a:t>Ce que vous faites sur une branche n’a pas d’impact sur le tronc </a:t>
            </a:r>
          </a:p>
          <a:p>
            <a:pPr lvl="1"/>
            <a:endParaRPr lang="fr-CA" dirty="0"/>
          </a:p>
          <a:p>
            <a:pPr marL="265176" lvl="1" indent="0">
              <a:buNone/>
            </a:pPr>
            <a:endParaRPr lang="fr-CA" dirty="0"/>
          </a:p>
          <a:p>
            <a:pPr marL="265176" lvl="1" indent="0">
              <a:buNone/>
            </a:pPr>
            <a:endParaRPr lang="fr-CA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311DD915-1DE5-85E8-8A35-C9FB20F2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Toutes les </a:t>
            </a:r>
            <a: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branches</a:t>
            </a:r>
            <a:r>
              <a:rPr kumimoji="0" lang="fr-FR" altLang="fr-FR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créées par l'équipe.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682503-FE0D-D5C5-A86F-7790A13570D7}"/>
              </a:ext>
            </a:extLst>
          </p:cNvPr>
          <p:cNvSpPr/>
          <p:nvPr/>
        </p:nvSpPr>
        <p:spPr>
          <a:xfrm>
            <a:off x="3558209" y="1177586"/>
            <a:ext cx="3922643" cy="1097280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Tx/>
              <a:buChar char="-"/>
            </a:pPr>
            <a:r>
              <a:rPr lang="fr-CA" dirty="0"/>
              <a:t>git </a:t>
            </a:r>
            <a:r>
              <a:rPr lang="fr-CA" dirty="0" err="1"/>
              <a:t>branch</a:t>
            </a:r>
            <a:r>
              <a:rPr lang="fr-CA" dirty="0"/>
              <a:t> nom-de-la-branche</a:t>
            </a:r>
          </a:p>
          <a:p>
            <a:pPr marL="285750" indent="-285750" algn="ctr">
              <a:buFontTx/>
              <a:buChar char="-"/>
            </a:pPr>
            <a:r>
              <a:rPr lang="fr-CA" dirty="0"/>
              <a:t>git </a:t>
            </a:r>
            <a:r>
              <a:rPr lang="fr-CA" dirty="0" err="1"/>
              <a:t>checkout</a:t>
            </a:r>
            <a:r>
              <a:rPr lang="fr-CA" dirty="0"/>
              <a:t> nom-de-la-branche</a:t>
            </a:r>
          </a:p>
          <a:p>
            <a:pPr marL="285750" indent="-285750" algn="ctr">
              <a:buFontTx/>
              <a:buChar char="-"/>
            </a:pPr>
            <a:r>
              <a:rPr lang="fr-CA" dirty="0"/>
              <a:t>git </a:t>
            </a:r>
            <a:r>
              <a:rPr lang="fr-CA" dirty="0" err="1"/>
              <a:t>checkout</a:t>
            </a:r>
            <a:r>
              <a:rPr lang="fr-CA" dirty="0"/>
              <a:t> main</a:t>
            </a:r>
          </a:p>
          <a:p>
            <a:pPr marL="285750" indent="-285750" algn="ctr">
              <a:buFontTx/>
              <a:buChar char="-"/>
            </a:pPr>
            <a:r>
              <a:rPr lang="fr-CA" dirty="0"/>
              <a:t>git merge nom-de-la-branche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FB5FED-FEA7-C968-8A40-8452597DC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863" y="3724126"/>
            <a:ext cx="5705475" cy="2989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846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1621</TotalTime>
  <Words>461</Words>
  <Application>Microsoft Office PowerPoint</Application>
  <PresentationFormat>Grand écran</PresentationFormat>
  <Paragraphs>75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Google Sans</vt:lpstr>
      <vt:lpstr>Grandview Display</vt:lpstr>
      <vt:lpstr>Wingdings</vt:lpstr>
      <vt:lpstr>DashVTI</vt:lpstr>
      <vt:lpstr>Intro à Git</vt:lpstr>
      <vt:lpstr>Pourquoi Git ?</vt:lpstr>
      <vt:lpstr>Qu’est ce que Git </vt:lpstr>
      <vt:lpstr>Git avec Rstudio</vt:lpstr>
      <vt:lpstr>Clone</vt:lpstr>
      <vt:lpstr>Add + Commit + Push</vt:lpstr>
      <vt:lpstr>Pull</vt:lpstr>
      <vt:lpstr>Branch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Senoune, Samy</dc:creator>
  <cp:lastModifiedBy>Senoune, Samy</cp:lastModifiedBy>
  <cp:revision>1</cp:revision>
  <dcterms:created xsi:type="dcterms:W3CDTF">2026-03-21T15:03:13Z</dcterms:created>
  <dcterms:modified xsi:type="dcterms:W3CDTF">2026-03-22T18:05:01Z</dcterms:modified>
</cp:coreProperties>
</file>